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56" r:id="rId10"/>
    <p:sldId id="264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F3E47-0E33-B548-9F34-D499BA83BE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2A914-BE49-FE47-A09F-BE888E85221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349625"/>
          </a:xfrm>
        </p:spPr>
        <p:txBody>
          <a:bodyPr/>
          <a:lstStyle/>
          <a:p>
            <a:r>
              <a:rPr lang="en-US" sz="6000" dirty="0">
                <a:latin typeface="Geez Able" panose="02000509030000020004" charset="0"/>
                <a:cs typeface="Geez Able" panose="02000509030000020004" charset="0"/>
              </a:rPr>
              <a:t>የማንነት</a:t>
            </a:r>
            <a:r>
              <a:rPr lang="en-US" sz="1800" dirty="0">
                <a:solidFill>
                  <a:srgbClr val="FF0000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6000" dirty="0">
                <a:latin typeface="Geez Able" panose="02000509030000020004" charset="0"/>
                <a:cs typeface="Geez Able" panose="02000509030000020004" charset="0"/>
              </a:rPr>
              <a:t>ትርጉም</a:t>
            </a:r>
            <a:r>
              <a:rPr lang="en-US" sz="1800" dirty="0">
                <a:solidFill>
                  <a:srgbClr val="FF0000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6000" dirty="0">
                <a:latin typeface="Geez Able" panose="02000509030000020004" charset="0"/>
                <a:cs typeface="Geez Able" panose="02000509030000020004" charset="0"/>
              </a:rPr>
              <a:t>እና</a:t>
            </a:r>
            <a:r>
              <a:rPr lang="en-US" sz="1800" dirty="0">
                <a:solidFill>
                  <a:srgbClr val="FF0000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6000" dirty="0">
                <a:latin typeface="Geez Able" panose="02000509030000020004" charset="0"/>
                <a:cs typeface="Geez Able" panose="02000509030000020004" charset="0"/>
              </a:rPr>
              <a:t>አላማ</a:t>
            </a:r>
            <a:b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</a:b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ጭብጥ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የሰው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ልጅ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መገኘት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ነዉ</a:t>
            </a:r>
            <a:br>
              <a:rPr lang="en-US" sz="1800" b="1" kern="100" dirty="0">
                <a:solidFill>
                  <a:srgbClr val="0F4761"/>
                </a:solidFill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</a:b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ማብራሪያ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</a:t>
            </a:r>
            <a:b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</a:b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መግለጫ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በሰው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ልብ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የሚገኘው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የዓላማ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ናፍቆት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በማለት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ይጀምራል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አቀፋዊ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የሰው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ልጅ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ተሞክሮን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ያመለክታል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-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የሕልውና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ናፍቆት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ስሜት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ለከንቱ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ሕልውና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ሳይሆን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ለላቀ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ነገር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የታቀድን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መሆናችንን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የሚጠቁም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ስሜት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ናፍቆት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በስኬቶች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በግንኙነቶች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በንብረቶች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አይረካም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ነገር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ሕይወት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ከመጀመሪያው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ንድፉ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ሲስተካከል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ፊት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የሚኖር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ሕይወት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በመሠረቱ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ግንኙነታዊ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የተፈጠርን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ሳንሆን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የተፈጠርን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የላቀ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ጥሪያችን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ማወቅ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መደሰት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በንቃት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በደስታ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በመተባበር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ማክበር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።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አዳምና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ሔዋን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ከመውደቃቸው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በፊት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ገነት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ይደሰቱበት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የነበረው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የሻሎም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ሰላም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ሙሉነት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ፍጹምነት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ሁኔታ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ዘፍጥረት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26-28፡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ጊዜ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ተወስኗል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መልክ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(</a:t>
            </a:r>
            <a:r>
              <a:rPr lang="en-US" sz="1800" b="1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ኢማጎ</a:t>
            </a:r>
            <a:r>
              <a:rPr lang="en-US" sz="1800" b="1" i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ዴይ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ተፈጥረዋል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በምድር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ወኪሎች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እንድንሆን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ባህሪ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እንድናንጸባርቅ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እንድንገዛ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መፈጠራችንን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ያመለክታል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የተገኘ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የሐዋርያት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ሥራ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17፡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26-28፡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ጳውሎስ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ለአቴና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የሚኖሩበትን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ጊዜና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ቦታ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የወሰነው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እንዲፈልጉ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ምናልባትም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በመዳሰስ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እንዲያገኙት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ከእያንዳንዳችን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የራቀ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አይደለም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ሕያዋን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ነንና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እንንቀሳቀሳለን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እንኖራለንና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ይላቸዋል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ህልውናችን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ራሱ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የተመሠረተ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መዝሙር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16፡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11፡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የሕይወትን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መንገድ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ታሳየኛለህ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በፊትህ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የደስታ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ሙላት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አለ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በቀኝህም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ለዘላለም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ፍስሐ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አለ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ደስታንና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እርካታን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ከመሆን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በቀጥታ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ያገናኛል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marL="0" indent="0">
              <a:buNone/>
            </a:pP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መገዛት</a:t>
            </a: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ዓላማችንን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ማወቅ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አንድ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ነገር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እንዴት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ማሳካት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እንደምንችል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ማወቅ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ደግሞ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ሌላ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ነገር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ጽሑፉ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ዘዴውን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ያቀርባል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ለእግዚአብሔር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መገዛት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የስልጣን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የመታዘዝ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አዳምና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ሔዋን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ፍጹም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ነፃነትና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እርካታ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ሊለማመዱበት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የሚችሉበት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ቀላል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ትእዛዝ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ተሰጥቷቸው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፡16-17)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ኃጢአታቸው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ፍሬ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መብላት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አልነበረም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የትዕቢት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የማመፅ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ድርጊት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ፍርድ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ከመቀበል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ይልቅ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የራሳቸውን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ፍርድ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የመረጡበት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የመጨረሻ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አልተቀበሉትም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በማድረጋቸውም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የሰጣቸውን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አቋረጡ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ያለው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ተመሳሳይነትም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ወደዚያው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የመተማመን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የመታዘዝ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አቋም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ተጠርተናል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ለተጻፈው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መጽሐፍ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ለሕያው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ለኢየሱስ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ክርስቶስም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ጭምር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መገዛት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ስለ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ገዳቢ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አይደለም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ከራሳችን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ጉድለት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ካለበት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ግንዛቤ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ይልቅ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በፈጣሪ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ንድፍ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መታመን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ተፈጠርንለት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መመለሻ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መንገድ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መታዘዝ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የመተማመን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ፍሬ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የበረከት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ዘዴ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marL="0" indent="0">
              <a:buNone/>
            </a:pP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ዘዳግም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8፡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3፡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“…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በሚወጣ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እንጂ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በእንጀራ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ብቻ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አይኖርም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ኢየሱስ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ራሱ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በሰይጣን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ሲፈተን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ጠቅሷል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ማቴዎስ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4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፡4)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እውነተኛ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ሕይወታችን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ፈቃድ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በመገዛት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እንደሚጸና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በማረጋገጥ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ኢያሱ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8፡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የሕግ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መጽሐፍ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ከአፍህ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አይለይ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ነገር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የተጻፈበትን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በጥንቃቄ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ታደርግ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ዘንድ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በቀንና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በሌሊት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አስበው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ጊዜ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መንገድህን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ታቀናለህ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ጊዜም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መልካም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ይሆንልሃል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ስኬት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ከቃሉ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ከመታዘዝ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የተያያዘ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ዮሐንስ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14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፡15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21፡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ኢየሱስ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ብትወዱኝ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ትእዛዜን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ትጠብቃላችሁ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መታዘዝ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ከባድ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ግዴታ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ሳይሆን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አፍቃሪ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ተፈጥሯዊ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መግለጫ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ቀርቧል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marL="0" indent="0">
              <a:buNone/>
            </a:pP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፡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የእግዚአብሔርን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ማደሪያ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ስፍራ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የመጠበቅ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እና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የማስፋፋት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oto Sans Ethiopic" panose="020B0502040504020204" pitchFamily="34" charset="0"/>
                <a:ea typeface="Times New Roman" panose="02020603050405020304" pitchFamily="18" charset="0"/>
                <a:cs typeface="Noto Sans Ethiopic" panose="020B0502040504020204" pitchFamily="34" charset="0"/>
              </a:rPr>
              <a:t>ተልእኮ</a:t>
            </a:r>
            <a:b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360"/>
            <a:ext cx="10515600" cy="4693920"/>
          </a:xfrm>
        </p:spPr>
        <p:txBody>
          <a:bodyPr>
            <a:normAutofit fontScale="92500"/>
          </a:bodyPr>
          <a:lstStyle/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ጭብጥ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የእኛን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ዓላማ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ተግባር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ከሚታይ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ያገናኛል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አዳም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እንዲሰራውና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እንዲጠብቀው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በገነት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ተቀምጦ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፡15)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መጠበቅ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(</a:t>
            </a:r>
            <a:r>
              <a:rPr lang="en-US" sz="1800" b="1" i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ሻማር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የሚለው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የዕብራይስጥ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በኋላ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ድንኳኑን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እንዲጠብቁ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ለተሾሙት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ለሌዋውያን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ካህናት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ጥቅም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የዋለው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ዘኍልቍ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3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፡7-8)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በምድር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የመጀመሪያው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መለኮታዊ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ማደሪያ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ነበረች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የሰው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ልጅ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ቅድስናዋን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መጠበቅ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በማስፋት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ድንበሯን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መላውን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ምድር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እንዲሞላ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ማድረግ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፡28)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ውድቀቱ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አቋረጠው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ሆኖም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መላው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መጽሐፍ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ሕዝብን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የመዋጀት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ይህንን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እንደገና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የማስጀመር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ታሪክ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ድንኳኑ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ቀጣይ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ማደሪያ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ስፍራዎች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ነበሩ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በኢየሱስ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ሆነ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በእኛም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አደረ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ዮሐንስ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፡14)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እውነተኛው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ዮሐንስ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፡19-21)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በበዓለ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ሃምሳ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መንፈስ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በአማኞች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ያድራል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እነርሱን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አዲሱ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ያደርጋቸዋል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(1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ኛ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ቆሮንቶስ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3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፡16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6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፡19)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በመጨረሻም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በአዲሲቷ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ኢየሩሳሌም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ይፈጸማል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በዚያም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ማደሪያ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ከሰው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ልጆች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ሙሉ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በሙሉ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ይሆናል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ራእይ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21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፡3)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ስለዚህ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ከአሁን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በኋላ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በጂኦግራፊያዊ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ገነት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ያተኮረ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አይደለም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ክርስቲያን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—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የክርስቶስ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አካል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የመንፈስ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—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የወንጌልን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እውነት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ቅድስና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መጠበቅ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መንግሥት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መገኘት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በወንጌል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በኩል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ህዝቦች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በመውሰድ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ማስፋፋት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አለብን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2083"/>
            <a:ext cx="10515600" cy="5594880"/>
          </a:xfrm>
        </p:spPr>
        <p:txBody>
          <a:bodyPr/>
          <a:lstStyle/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የመጀመሪያው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ዘፍጥረት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1፡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28፡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ብዙ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ተባዙ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ምድርንም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ሙሏት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ግዟትም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…”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ሥርዓትና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ክብር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በምድር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ለማስፋፋት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የተሰጠው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የባህል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የክህነት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ሚና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1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ኛ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ጴጥሮስ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9፡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እናንተ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ከጨለማ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ወደሚደነቅ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ብርሃኑ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የጠራችሁን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የእርሱን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በጎነት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እንድትነግሩ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የተመረጠ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ትውልድ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የንጉሥ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ካህናት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ሕዝብ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ለርስቱ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የተለየ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ወገን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ናችሁ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ካህናት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እውነትን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እንጠብቃለን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ለዓለም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እንወክላለን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ታላቁ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ማቴዎስ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28፡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18-20፡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ለዳኑት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የተሰጠው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የታደሰ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ኢየሱስ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በሙሉ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ሥልጣን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እንግዲህ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ሂዱና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ሕዝቦችን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በአብ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በወልድና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በመንፈስ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እያጠመቃችኋቸው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ያዘዝኋችሁንም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እንዲጠብቁ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እያስተማራችኋቸው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ደቀ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መዛሙርት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አድርጓቸው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በማለት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ያዝዛል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እውነተኛውን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አምላክ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በሚያመልኩ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ሰዎች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ምድርን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የመሙላት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የመንፈስ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1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ኛ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ቆሮንቶስ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3፡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16፡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ሆናችሁ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መንፈስ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እንዲኖርባችሁ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አታውቁምን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?”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እኛ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አሁን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በቅዱስ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ሕይወት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እንድንጠብቀው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በወንጌል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ስርጭት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እንድናስፋፋው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የተጠራንበት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ማደሪያ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ስፍራ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የመጨረሻው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ፍጻሜ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ራእይ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21፡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1-3፡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ታሪኩ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እንደጀመረው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ከሕዝቡ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ሲኖር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ያበቃል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ተልእኮው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ተጠናቅቋል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 “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እነሆ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ድንኳን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በሰዎች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መካከል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እርሱም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ከእነርሱ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ያድራል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እነርሱም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ሕዝቡ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ይሆናሉ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ራሱ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ከእነርሱ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ሆኖ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አምላካቸው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ይሆናል</a:t>
            </a:r>
            <a:r>
              <a:rPr lang="en-US" sz="180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”</a:t>
            </a:r>
            <a:r>
              <a:rPr lang="en-US" sz="180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Geez Able" panose="02000509030000020004" charset="0"/>
                <a:cs typeface="Geez Able" panose="02000509030000020004" charset="0"/>
              </a:rPr>
              <a:t>ዔድን</a:t>
            </a:r>
            <a:r>
              <a:rPr lang="en-US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dirty="0" err="1">
                <a:latin typeface="Geez Able" panose="02000509030000020004" charset="0"/>
                <a:cs typeface="Geez Able" panose="02000509030000020004" charset="0"/>
              </a:rPr>
              <a:t>እንደ</a:t>
            </a:r>
            <a:r>
              <a:rPr lang="en-US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dirty="0" err="1">
                <a:latin typeface="Geez Able" panose="02000509030000020004" charset="0"/>
                <a:cs typeface="Geez Able" panose="02000509030000020004" charset="0"/>
              </a:rPr>
              <a:t>እግዚአብሔር</a:t>
            </a:r>
            <a:r>
              <a:rPr lang="en-US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dirty="0" err="1">
                <a:latin typeface="Geez Able" panose="02000509030000020004" charset="0"/>
                <a:cs typeface="Geez Able" panose="02000509030000020004" charset="0"/>
              </a:rPr>
              <a:t>ቤተ</a:t>
            </a:r>
            <a:r>
              <a:rPr lang="en-US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dirty="0" err="1">
                <a:latin typeface="Geez Able" panose="02000509030000020004" charset="0"/>
                <a:cs typeface="Geez Able" panose="02000509030000020004" charset="0"/>
              </a:rPr>
              <a:t>መቅደስ</a:t>
            </a:r>
            <a:endParaRPr lang="en-US" dirty="0">
              <a:latin typeface="Geez Able" panose="02000509030000020004" charset="0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1. 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እግዚአብሔር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በዔድን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 "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ሲመላለስ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" (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ዘፍጥረት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 3፡8) – 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የቤተ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መቅደስ</a:t>
            </a:r>
            <a:r>
              <a:rPr lang="en-US" sz="4000" dirty="0">
                <a:latin typeface="Geez Able" panose="02000509030000020004" charset="0"/>
                <a:cs typeface="Geez Able" panose="02000509030000020004" charset="0"/>
              </a:rPr>
              <a:t> </a:t>
            </a:r>
            <a:r>
              <a:rPr lang="en-US" sz="4000" dirty="0" err="1">
                <a:latin typeface="Geez Able" panose="02000509030000020004" charset="0"/>
                <a:cs typeface="Geez Able" panose="02000509030000020004" charset="0"/>
              </a:rPr>
              <a:t>ምሳሌያዊነት</a:t>
            </a:r>
            <a:br>
              <a:rPr lang="en-US" sz="4000" dirty="0">
                <a:latin typeface="Geez Able" panose="02000509030000020004" charset="0"/>
                <a:cs typeface="Geez Able" panose="02000509030000020004" charset="0"/>
              </a:rPr>
            </a:br>
            <a:endParaRPr lang="en-US" sz="4000" dirty="0">
              <a:latin typeface="Geez Able" panose="02000509030000020004" charset="0"/>
              <a:cs typeface="Geez Able" panose="0200050903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800" b="1" kern="100" dirty="0">
              <a:solidFill>
                <a:srgbClr val="0F4761"/>
              </a:solidFill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የዕብራይስጥ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ጥናት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መመላለስ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 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1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በዘፍጥረት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3፡8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በገነት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ሲመላለስ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 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እንደነበረ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ተገልጿል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1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ይኸው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በዘሌዋውያን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26፡12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በዘዳግም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23፡14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ጥቅም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ላይ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ውሏል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በሕዝቡ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መካከል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እንደምመላለስ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ቃል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የገባበት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ሲሆን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አገላለጽ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ድንኳኑ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/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ካለው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ህልዎቱ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የተያያዘ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1"/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በ2ኛ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ሳሙኤል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7፡6-7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በድንኳን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በመገናኛው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ድንኳን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) 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እየተዘዋወርሁ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ነበርሁ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፤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ይህም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እና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በኋላ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በመቅደሱ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መካከል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የነበረውን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ህልዎት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ያሳያል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"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መመላለሱ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"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ቅድስተ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ቅዱሳን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ውስጥ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ከሕዝቡ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መካከል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ከሚያድረው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ህልዎቱ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ይመሳሰላል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(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ዘጸአት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25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፡8)፡፡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pPr lvl="0"/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ዔድን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እግዚአብሔር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ከአዳም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ጋር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የሚገናኝበት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ቅዱስ</a:t>
            </a:r>
            <a:r>
              <a:rPr lang="en-US" sz="1800" b="1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b="1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ስፍራ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እንደነበረ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ሁሉ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፣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በኋላም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ቤተ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መቅደሱ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የመለኮታዊ-ሰብዓዊ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ግንኙነት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ስፍራ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 </a:t>
            </a:r>
            <a:r>
              <a:rPr lang="en-US" sz="1800" dirty="0" err="1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ሆነ</a:t>
            </a:r>
            <a:r>
              <a:rPr lang="en-US" sz="1800" dirty="0">
                <a:effectLst/>
                <a:latin typeface="Geez Able" panose="02000509030000020004" charset="0"/>
                <a:ea typeface="Times New Roman" panose="02020603050405020304" pitchFamily="18" charset="0"/>
                <a:cs typeface="Geez Able" panose="02000509030000020004" charset="0"/>
              </a:rPr>
              <a:t>፡፡</a:t>
            </a:r>
            <a:endParaRPr lang="en-US" sz="1800" dirty="0">
              <a:effectLst/>
              <a:latin typeface="Geez Able" panose="02000509030000020004" charset="0"/>
              <a:ea typeface="Times New Roman" panose="02020603050405020304" pitchFamily="18" charset="0"/>
              <a:cs typeface="Geez Able" panose="02000509030000020004" charset="0"/>
            </a:endParaRPr>
          </a:p>
          <a:p>
            <a:endParaRPr lang="en-US" sz="1800" dirty="0">
              <a:latin typeface="Geez Able" panose="02000509030000020004" charset="0"/>
              <a:ea typeface="+mj-ea"/>
              <a:cs typeface="Geez Able" panose="020005090300000200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ዔድን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የመጀመሪያው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ከቤተ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ጋር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ያለው</a:t>
            </a:r>
            <a: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ተመሳሳይነት</a:t>
            </a:r>
            <a:br>
              <a:rPr lang="en-US" sz="32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1" kern="100" dirty="0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ሀ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የዔድንና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የቤተ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አወቃቀር</a:t>
            </a:r>
            <a:endParaRPr lang="en-US" sz="1800" b="1" i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የተጠበቀ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መግቢያ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ከውድቀት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በኋላ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ኪሩቤል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በዔድን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መግቢያ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መጠበቁ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በድንኳኑ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ውስጥ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ኪሩቤል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በመጋረጃው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ተሸምነው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ዘጸ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31)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እና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በታቦቱ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ጥላ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ያደርጉ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ነበር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ዘጸ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18-22)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የሕይወት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ወንዝና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የቤተ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ውኃዎች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ከዔድን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ወንዝ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ይፈስ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ነበር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፤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ይህም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በሕዝቅኤል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47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1-12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እና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በራእይ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22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1-2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ከቤተ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ስለሚፈሰው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ውኃ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ያስታውሳል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ወርቅና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የከበሩ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ድንጋዮች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ዔድን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ወርቅና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የከበረ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ድንጋይ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ኦኒክስ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ነበረው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11-12)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፤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መቅደሱም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በወርቅና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በከበሩ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ድንጋዮች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እንደተጌጠ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ሁሉ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ዘጸ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፤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ኛ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ነገሥት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20-22)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kern="100" dirty="0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ለ</a:t>
            </a:r>
            <a:r>
              <a:rPr lang="en-US" sz="32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አዳም</a:t>
            </a:r>
            <a:r>
              <a:rPr lang="en-US" sz="32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</a:t>
            </a:r>
            <a:r>
              <a:rPr lang="en-US" sz="32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የመጀመሪያው</a:t>
            </a:r>
            <a:r>
              <a:rPr lang="en-US" sz="32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ካህን</a:t>
            </a:r>
            <a:br>
              <a:rPr lang="en-US" sz="32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አዳም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በዔድን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የተቀመጠው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እንዲሠራውና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እንዲጠብቀው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ነበር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15)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ዓቫድ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עָבַד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ማገልገል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እና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ሻማር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(שָׁ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מַר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መጠበቅ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የሚሉት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የዕብራይስጥ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ቃላት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በኋላ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በድንኳኑ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ውስጥ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ለ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ክህነት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ተግባራት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ጥቅም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ላይ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ውለዋል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ዘኍ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7-8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፤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18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የአዳም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ሚና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በቤተ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ውስጥ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ካገለገሉት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ከሌዋውያንና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ከካህናት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ጋር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ይመሳሰላል</a:t>
            </a:r>
            <a:r>
              <a:rPr lang="en-US" sz="24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የሐዲስ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ኪዳን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ፍጻሜ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ኢየሱስ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አዲሱ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3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1" kern="100" dirty="0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ሀ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ኢየሱስ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አዲሱ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አዳምና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እውነተኛው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endParaRPr lang="en-US" sz="1800" b="1" i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ዮሐንስ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  <a:r>
              <a:rPr lang="en-US" sz="1800" b="1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ቃል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በእኛ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መካከል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አደረ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ድንኳኑን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ተከለ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ἐσκήνωσεν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i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ኤስኬኖሴን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)"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ዮሐንስ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</a:t>
            </a:r>
            <a:r>
              <a:rPr lang="en-US" sz="1800" b="1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19-21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ኢየሱስ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ሥጋውን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ብሎ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ጠርቶታል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ራእይ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21</a:t>
            </a:r>
            <a:r>
              <a:rPr lang="en-US" sz="1800" b="1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በአዲሲቱ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ኢየሩሳሌም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ሁሉን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የሚገዛ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ጌታ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እግዚአብሔርና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በጉ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መቅደሷ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ናቸውና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i="1" kern="100" dirty="0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ለ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የገነት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ዳግም</a:t>
            </a:r>
            <a:r>
              <a:rPr lang="en-US" sz="1800" b="1" i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መመለስ</a:t>
            </a:r>
            <a:endParaRPr lang="en-US" sz="1800" b="1" i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ራእይ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22</a:t>
            </a:r>
            <a:r>
              <a:rPr lang="en-US" sz="1800" b="1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1-3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በአዲሲቱ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ኢየሩሳሌም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ውስጥ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እግዚአብሔር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በቀጥታ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ከሕዝቡ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ጋር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ስለሚኖርበት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**"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ሕይወት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ወንዝ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እና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"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የሕይወት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ዛፍ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"**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የዔድን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ምሳሌያዊነት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ይገልጻል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ማጠቃለያ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ዔድን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የመጀመሪያው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F4761"/>
                </a:solidFill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endParaRPr lang="en-US" sz="18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የቋንቋ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ተመሳሳይነቶች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እግዚአብሔር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"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ሲመላለስ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የክህነት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ቋንቋ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የአወቃቀር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ተመሳሳይነቶች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ኪሩቤል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ወንዞች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ወርቅ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እና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የኋለኛው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መጽሐፍ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ቅዱሳዊ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ነጸብራቆች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ሕዝቅኤል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ራእይ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ሁሉም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ዔድን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እግዚአብሔር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ከሰው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ልጆች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ጋር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ይኖርበት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የነበረው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የመጀመሪያው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እንደነበር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ያመለክታሉ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በኋላም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ቤተ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የዔድንን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ቅዱስ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ስፍራ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ዳግም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የፈጠረ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ሲሆን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፣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በመጨረሻም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ኢየሱስ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ከእግዚአብሔር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ጋር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ያለውን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ቀጥተኛ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ግንኙነት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በመመለስ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የዔድንንና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የቤተ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መቅደስን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ፍጻሜ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ሆኗል</a:t>
            </a:r>
            <a:r>
              <a:rPr lang="en-US" sz="1800" dirty="0">
                <a:effectLst/>
                <a:latin typeface="Nyala" panose="02000504070300020003" pitchFamily="2" charset="0"/>
                <a:ea typeface="Times New Roman" panose="02020603050405020304" pitchFamily="18" charset="0"/>
                <a:cs typeface="Nyala" panose="02000504070300020003" pitchFamily="2" charset="0"/>
              </a:rPr>
              <a:t>፡፡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6033</Words>
  <Application>WPS Presentation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Tahoma</vt:lpstr>
      <vt:lpstr>Times New Roman</vt:lpstr>
      <vt:lpstr>Noto Sans Ethiopic</vt:lpstr>
      <vt:lpstr>Noto Sans</vt:lpstr>
      <vt:lpstr>Aptos</vt:lpstr>
      <vt:lpstr>Nyala</vt:lpstr>
      <vt:lpstr>Segoe UI</vt:lpstr>
      <vt:lpstr>Aptos Display</vt:lpstr>
      <vt:lpstr>Microsoft YaHei</vt:lpstr>
      <vt:lpstr>Arial Unicode MS</vt:lpstr>
      <vt:lpstr>Calibri</vt:lpstr>
      <vt:lpstr>Geez Able</vt:lpstr>
      <vt:lpstr>Office Theme</vt:lpstr>
      <vt:lpstr>የማንነት ትርጉም እና አላማ </vt:lpstr>
      <vt:lpstr>ጭብጥ 1፡ የሰው ልጅ ዓላማ  በእግዚአብሔር መገኘት ውስጥ ነዉ </vt:lpstr>
      <vt:lpstr>PowerPoint 演示文稿</vt:lpstr>
      <vt:lpstr> 2፡ ለእግዚአብሔር ቃል መገዛት</vt:lpstr>
      <vt:lpstr>PowerPoint 演示文稿</vt:lpstr>
      <vt:lpstr>3፡ የእግዚአብሔርን ማደሪያ ስፍራ የመጠበቅ እና የማስፋፋት ተልእኮ </vt:lpstr>
      <vt:lpstr>PowerPoint 演示文稿</vt:lpstr>
      <vt:lpstr>ዔድን እንደ እግዚአብሔር ቤተ መቅደስ</vt:lpstr>
      <vt:lpstr>1. እግዚአብሔር በዔድን "ሲመላለስ" (ዘፍጥረት 3፡8) – የቤተ መቅደስ ምሳሌያዊነት </vt:lpstr>
      <vt:lpstr>2. ዔድን እንደ የመጀመሪያው መቅደስ – ከቤተ መቅደስ ጋር ያለው ተመሳሳይነት </vt:lpstr>
      <vt:lpstr>ለ. አዳም እንደ የመጀመሪያው ካህን </vt:lpstr>
      <vt:lpstr>3. የሐዲስ ኪዳን ፍጻሜ – ኢየሱስ እንደ አዲሱ ቤተ መቅደስ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የማንነት ትርጉም እና አላማ </dc:title>
  <dc:creator>Guest User</dc:creator>
  <cp:lastModifiedBy>Micky</cp:lastModifiedBy>
  <cp:revision>5</cp:revision>
  <dcterms:created xsi:type="dcterms:W3CDTF">2025-08-22T10:53:00Z</dcterms:created>
  <dcterms:modified xsi:type="dcterms:W3CDTF">2025-08-22T18:31:02Z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1FD6208187A14C28875FFBE58A2CB899_12</vt:lpwstr>
  </property>
  <property fmtid="{D5CDD505-2E9C-101B-9397-08002B2CF9AE}" pid="3" name="KSOProductBuildVer">
    <vt:lpwstr>1033-12.2.0.21179</vt:lpwstr>
  </property>
</Properties>
</file>